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9" r:id="rId6"/>
    <p:sldId id="260" r:id="rId7"/>
    <p:sldId id="271" r:id="rId8"/>
    <p:sldId id="275" r:id="rId9"/>
    <p:sldId id="276" r:id="rId10"/>
    <p:sldId id="277" r:id="rId11"/>
    <p:sldId id="262" r:id="rId12"/>
    <p:sldId id="263" r:id="rId13"/>
    <p:sldId id="264" r:id="rId14"/>
    <p:sldId id="273" r:id="rId15"/>
    <p:sldId id="274" r:id="rId16"/>
    <p:sldId id="265" r:id="rId17"/>
    <p:sldId id="266" r:id="rId18"/>
    <p:sldId id="267" r:id="rId19"/>
    <p:sldId id="26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897EDF0-E773-48C9-BE18-BB48BA54F61F}" type="datetimeFigureOut">
              <a:rPr lang="en-US" smtClean="0"/>
              <a:pPr/>
              <a:t>1/6/2026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2D3A5E9-A64E-4730-8A6E-686E1C112C4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97EDF0-E773-48C9-BE18-BB48BA54F61F}"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897EDF0-E773-48C9-BE18-BB48BA54F61F}"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3A5E9-A64E-4730-8A6E-686E1C112C4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897EDF0-E773-48C9-BE18-BB48BA54F61F}"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897EDF0-E773-48C9-BE18-BB48BA54F61F}"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897EDF0-E773-48C9-BE18-BB48BA54F61F}"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97EDF0-E773-48C9-BE18-BB48BA54F61F}"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897EDF0-E773-48C9-BE18-BB48BA54F61F}"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897EDF0-E773-48C9-BE18-BB48BA54F61F}"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2D3A5E9-A64E-4730-8A6E-686E1C112C4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97EDF0-E773-48C9-BE18-BB48BA54F61F}"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97EDF0-E773-48C9-BE18-BB48BA54F61F}"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D3A5E9-A64E-4730-8A6E-686E1C112C4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897EDF0-E773-48C9-BE18-BB48BA54F61F}" type="datetimeFigureOut">
              <a:rPr lang="en-US" smtClean="0"/>
              <a:pPr/>
              <a:t>1/6/2026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2D3A5E9-A64E-4730-8A6E-686E1C112C4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Wrangling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Wrangling</a:t>
            </a:r>
            <a:endParaRPr lang="en-US" dirty="0"/>
          </a:p>
        </p:txBody>
      </p:sp>
      <p:sp>
        <p:nvSpPr>
          <p:cNvPr id="3" name="Content Placeholder 2"/>
          <p:cNvSpPr>
            <a:spLocks noGrp="1"/>
          </p:cNvSpPr>
          <p:nvPr>
            <p:ph idx="1"/>
          </p:nvPr>
        </p:nvSpPr>
        <p:spPr>
          <a:xfrm>
            <a:off x="457200" y="1935480"/>
            <a:ext cx="8229600" cy="4693920"/>
          </a:xfrm>
        </p:spPr>
        <p:txBody>
          <a:bodyPr>
            <a:normAutofit fontScale="92500" lnSpcReduction="10000"/>
          </a:bodyPr>
          <a:lstStyle/>
          <a:p>
            <a:pPr algn="just"/>
            <a:r>
              <a:rPr lang="en-US" dirty="0" smtClean="0"/>
              <a:t>Data wrangling is essentially the process of ‘cleaning’ unstructured data sets so that they can be explored and analyzed more effectively. </a:t>
            </a:r>
          </a:p>
          <a:p>
            <a:pPr algn="just"/>
            <a:r>
              <a:rPr lang="en-US" dirty="0" smtClean="0"/>
              <a:t>What does this mean in practice? </a:t>
            </a:r>
          </a:p>
          <a:p>
            <a:pPr lvl="1" algn="just"/>
            <a:r>
              <a:rPr lang="en-US" dirty="0" smtClean="0"/>
              <a:t>It can involve selecting the relevant data from a large set, </a:t>
            </a:r>
          </a:p>
          <a:p>
            <a:pPr lvl="1" algn="just"/>
            <a:r>
              <a:rPr lang="en-US" dirty="0" smtClean="0"/>
              <a:t>merging data sets, </a:t>
            </a:r>
          </a:p>
          <a:p>
            <a:pPr lvl="1" algn="just"/>
            <a:r>
              <a:rPr lang="en-US" dirty="0" smtClean="0"/>
              <a:t>fixing/removing any corrupt data, </a:t>
            </a:r>
          </a:p>
          <a:p>
            <a:pPr lvl="1" algn="just"/>
            <a:r>
              <a:rPr lang="en-US" dirty="0" smtClean="0"/>
              <a:t>identifying anomalies or outliers, </a:t>
            </a:r>
          </a:p>
          <a:p>
            <a:pPr lvl="1" algn="just"/>
            <a:r>
              <a:rPr lang="en-US" dirty="0" smtClean="0"/>
              <a:t>standardizing data formats, </a:t>
            </a:r>
          </a:p>
          <a:p>
            <a:pPr lvl="1" algn="just"/>
            <a:r>
              <a:rPr lang="en-US" dirty="0" smtClean="0"/>
              <a:t>checking for inconsistencies, etc. </a:t>
            </a:r>
          </a:p>
          <a:p>
            <a:pPr algn="just"/>
            <a:r>
              <a:rPr lang="en-US" dirty="0" smtClean="0"/>
              <a:t>Ultimately, the goal is to give analysts data in a user-friendly format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458200" cy="1143000"/>
          </a:xfrm>
        </p:spPr>
        <p:txBody>
          <a:bodyPr>
            <a:normAutofit fontScale="90000"/>
          </a:bodyPr>
          <a:lstStyle/>
          <a:p>
            <a:r>
              <a:rPr lang="en-US" dirty="0" smtClean="0"/>
              <a:t>Python Libraries for Data Wrangling</a:t>
            </a:r>
            <a:endParaRPr lang="en-US" dirty="0"/>
          </a:p>
        </p:txBody>
      </p:sp>
      <p:sp>
        <p:nvSpPr>
          <p:cNvPr id="3" name="Content Placeholder 2"/>
          <p:cNvSpPr>
            <a:spLocks noGrp="1"/>
          </p:cNvSpPr>
          <p:nvPr>
            <p:ph idx="1"/>
          </p:nvPr>
        </p:nvSpPr>
        <p:spPr>
          <a:xfrm>
            <a:off x="152400" y="1676400"/>
            <a:ext cx="8686800" cy="5029200"/>
          </a:xfrm>
        </p:spPr>
        <p:txBody>
          <a:bodyPr>
            <a:normAutofit fontScale="85000" lnSpcReduction="20000"/>
          </a:bodyPr>
          <a:lstStyle/>
          <a:p>
            <a:pPr algn="just"/>
            <a:r>
              <a:rPr lang="en-US" b="1" dirty="0" smtClean="0"/>
              <a:t>Pandas: </a:t>
            </a:r>
            <a:r>
              <a:rPr lang="en-US" b="1" dirty="0"/>
              <a:t>Python Data Analysis Library </a:t>
            </a:r>
          </a:p>
          <a:p>
            <a:pPr lvl="1" algn="just"/>
            <a:r>
              <a:rPr lang="en-US" dirty="0" smtClean="0"/>
              <a:t>One of the ‘must have’ tools for data wrangling, Pandas uses data structures called </a:t>
            </a:r>
            <a:r>
              <a:rPr lang="en-US" dirty="0" err="1" smtClean="0"/>
              <a:t>DataFrames</a:t>
            </a:r>
            <a:r>
              <a:rPr lang="en-US" dirty="0" smtClean="0"/>
              <a:t>, with built-in methods for  grouping, filtering, and combining data.</a:t>
            </a:r>
          </a:p>
          <a:p>
            <a:pPr algn="just"/>
            <a:r>
              <a:rPr lang="en-US" b="1" dirty="0" err="1" smtClean="0"/>
              <a:t>NumPy</a:t>
            </a:r>
            <a:r>
              <a:rPr lang="en-US" b="1" dirty="0" smtClean="0"/>
              <a:t>: Numeric </a:t>
            </a:r>
            <a:r>
              <a:rPr lang="en-US" b="1" dirty="0"/>
              <a:t>Computation</a:t>
            </a:r>
          </a:p>
          <a:p>
            <a:pPr lvl="1" algn="just"/>
            <a:r>
              <a:rPr lang="en-US" dirty="0" smtClean="0"/>
              <a:t>This is primarily used for scientific computing and performing basic and advanced array operations.</a:t>
            </a:r>
          </a:p>
          <a:p>
            <a:pPr algn="just"/>
            <a:r>
              <a:rPr lang="en-US" b="1" dirty="0" err="1" smtClean="0"/>
              <a:t>SciPy</a:t>
            </a:r>
            <a:r>
              <a:rPr lang="en-US" b="1" dirty="0" smtClean="0"/>
              <a:t>: </a:t>
            </a:r>
            <a:r>
              <a:rPr lang="en-US" b="1" dirty="0"/>
              <a:t>Scientific Computation</a:t>
            </a:r>
          </a:p>
          <a:p>
            <a:pPr lvl="1" algn="just"/>
            <a:r>
              <a:rPr lang="en-US" dirty="0" smtClean="0"/>
              <a:t>This can execute advanced numerical routines, including for numerical integration, interpolation, optimization, linear algebra, and statistics.</a:t>
            </a:r>
          </a:p>
          <a:p>
            <a:pPr algn="just"/>
            <a:r>
              <a:rPr lang="en-US" b="1" dirty="0" err="1" smtClean="0"/>
              <a:t>Matplotlib</a:t>
            </a:r>
            <a:r>
              <a:rPr lang="en-US" b="1" dirty="0" smtClean="0"/>
              <a:t>:</a:t>
            </a:r>
            <a:r>
              <a:rPr lang="en-US" dirty="0" smtClean="0"/>
              <a:t> </a:t>
            </a:r>
            <a:r>
              <a:rPr lang="en-US" b="1" dirty="0" smtClean="0"/>
              <a:t>Data Visualization</a:t>
            </a:r>
            <a:endParaRPr lang="en-US" b="1" dirty="0"/>
          </a:p>
          <a:p>
            <a:pPr lvl="1" algn="just"/>
            <a:r>
              <a:rPr lang="en-US" dirty="0" smtClean="0"/>
              <a:t>A powerful data visualization library that can convert data into graphs and charts that are more user-friendly when it comes to modeling and analysis. </a:t>
            </a:r>
          </a:p>
          <a:p>
            <a:pPr algn="just"/>
            <a:r>
              <a:rPr lang="en-US" b="1" dirty="0" err="1" smtClean="0"/>
              <a:t>Scikit</a:t>
            </a:r>
            <a:r>
              <a:rPr lang="en-US" b="1" dirty="0" smtClean="0"/>
              <a:t>-Learn: </a:t>
            </a:r>
            <a:r>
              <a:rPr lang="en-US" b="1" dirty="0"/>
              <a:t> Machine Learning in Python </a:t>
            </a:r>
            <a:endParaRPr lang="en-US" b="1" dirty="0" smtClean="0"/>
          </a:p>
          <a:p>
            <a:pPr lvl="1" algn="just"/>
            <a:r>
              <a:rPr lang="en-US" dirty="0" smtClean="0"/>
              <a:t>A popular machine learning and data modeling tool that is really useful for building regression, clustering, and classification models.</a:t>
            </a:r>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9888"/>
            <a:ext cx="8229600" cy="819912"/>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Key Steps of Data </a:t>
            </a:r>
            <a:r>
              <a:rPr lang="en-US" dirty="0"/>
              <a:t>W</a:t>
            </a:r>
            <a:r>
              <a:rPr lang="en-US" dirty="0" smtClean="0"/>
              <a:t>rangling</a:t>
            </a:r>
            <a:br>
              <a:rPr lang="en-US" dirty="0" smtClean="0"/>
            </a:br>
            <a:endParaRPr lang="en-US" dirty="0"/>
          </a:p>
        </p:txBody>
      </p:sp>
      <p:sp>
        <p:nvSpPr>
          <p:cNvPr id="3" name="Content Placeholder 2"/>
          <p:cNvSpPr>
            <a:spLocks noGrp="1"/>
          </p:cNvSpPr>
          <p:nvPr>
            <p:ph idx="1"/>
          </p:nvPr>
        </p:nvSpPr>
        <p:spPr>
          <a:xfrm>
            <a:off x="457200" y="2011680"/>
            <a:ext cx="8534400" cy="4541520"/>
          </a:xfrm>
        </p:spPr>
        <p:txBody>
          <a:bodyPr>
            <a:normAutofit fontScale="92500" lnSpcReduction="20000"/>
          </a:bodyPr>
          <a:lstStyle/>
          <a:p>
            <a:pPr marL="514350" indent="-514350">
              <a:buFont typeface="+mj-lt"/>
              <a:buAutoNum type="arabicPeriod"/>
            </a:pPr>
            <a:r>
              <a:rPr lang="en-US" b="1" dirty="0"/>
              <a:t>Discovery:</a:t>
            </a:r>
            <a:r>
              <a:rPr lang="en-US" dirty="0"/>
              <a:t> </a:t>
            </a:r>
            <a:endParaRPr lang="en-US" dirty="0" smtClean="0"/>
          </a:p>
          <a:p>
            <a:pPr marL="880110" lvl="1" indent="-514350">
              <a:buFont typeface="Arial" panose="020B0604020202020204" pitchFamily="34" charset="0"/>
              <a:buChar char="•"/>
            </a:pPr>
            <a:r>
              <a:rPr lang="en-US" dirty="0" smtClean="0"/>
              <a:t>Explore </a:t>
            </a:r>
            <a:r>
              <a:rPr lang="en-US" dirty="0"/>
              <a:t>data sources</a:t>
            </a:r>
            <a:endParaRPr lang="en-US" dirty="0" smtClean="0"/>
          </a:p>
          <a:p>
            <a:pPr marL="880110" lvl="1" indent="-514350">
              <a:buFont typeface="Arial" panose="020B0604020202020204" pitchFamily="34" charset="0"/>
              <a:buChar char="•"/>
            </a:pPr>
            <a:r>
              <a:rPr lang="en-US" dirty="0" smtClean="0"/>
              <a:t>Understand </a:t>
            </a:r>
            <a:r>
              <a:rPr lang="en-US" dirty="0"/>
              <a:t>the data </a:t>
            </a:r>
            <a:r>
              <a:rPr lang="en-US" dirty="0" smtClean="0"/>
              <a:t>structure</a:t>
            </a:r>
          </a:p>
          <a:p>
            <a:pPr marL="880110" lvl="1" indent="-514350">
              <a:buFont typeface="Arial" panose="020B0604020202020204" pitchFamily="34" charset="0"/>
              <a:buChar char="•"/>
            </a:pPr>
            <a:r>
              <a:rPr lang="en-US" dirty="0" smtClean="0"/>
              <a:t>Identify potential issues</a:t>
            </a:r>
          </a:p>
          <a:p>
            <a:pPr marL="514350" indent="-514350">
              <a:buFont typeface="+mj-lt"/>
              <a:buAutoNum type="arabicPeriod"/>
            </a:pPr>
            <a:r>
              <a:rPr lang="en-US" b="1" dirty="0"/>
              <a:t>Data Cleaning:</a:t>
            </a:r>
            <a:r>
              <a:rPr lang="en-US" dirty="0"/>
              <a:t> </a:t>
            </a:r>
            <a:endParaRPr lang="en-US" dirty="0" smtClean="0"/>
          </a:p>
          <a:p>
            <a:pPr marL="880110" lvl="1" indent="-514350">
              <a:buFont typeface="Arial" panose="020B0604020202020204" pitchFamily="34" charset="0"/>
              <a:buChar char="•"/>
            </a:pPr>
            <a:r>
              <a:rPr lang="en-US" dirty="0" smtClean="0"/>
              <a:t>Correct </a:t>
            </a:r>
            <a:r>
              <a:rPr lang="en-US" dirty="0"/>
              <a:t>errors, </a:t>
            </a:r>
            <a:endParaRPr lang="en-US" dirty="0" smtClean="0"/>
          </a:p>
          <a:p>
            <a:pPr marL="880110" lvl="1" indent="-514350">
              <a:buFont typeface="Arial" panose="020B0604020202020204" pitchFamily="34" charset="0"/>
              <a:buChar char="•"/>
            </a:pPr>
            <a:r>
              <a:rPr lang="en-US" dirty="0" smtClean="0"/>
              <a:t>Handle </a:t>
            </a:r>
            <a:r>
              <a:rPr lang="en-US" dirty="0"/>
              <a:t>missing </a:t>
            </a:r>
            <a:r>
              <a:rPr lang="en-US" dirty="0" smtClean="0"/>
              <a:t>values</a:t>
            </a:r>
            <a:endParaRPr lang="en-US" dirty="0"/>
          </a:p>
          <a:p>
            <a:pPr marL="880110" lvl="1" indent="-514350">
              <a:buFont typeface="Arial" panose="020B0604020202020204" pitchFamily="34" charset="0"/>
              <a:buChar char="•"/>
            </a:pPr>
            <a:r>
              <a:rPr lang="en-US" dirty="0" smtClean="0"/>
              <a:t>Remove </a:t>
            </a:r>
            <a:r>
              <a:rPr lang="en-US" dirty="0"/>
              <a:t>irrelevant information to ensure data </a:t>
            </a:r>
            <a:r>
              <a:rPr lang="en-US" dirty="0" smtClean="0"/>
              <a:t>quality</a:t>
            </a:r>
            <a:endParaRPr lang="en-US" dirty="0"/>
          </a:p>
          <a:p>
            <a:pPr marL="514350" indent="-514350">
              <a:buFont typeface="+mj-lt"/>
              <a:buAutoNum type="arabicPeriod"/>
            </a:pPr>
            <a:r>
              <a:rPr lang="en-US" b="1" dirty="0"/>
              <a:t>Data Transformation:</a:t>
            </a:r>
            <a:r>
              <a:rPr lang="en-US" dirty="0"/>
              <a:t> </a:t>
            </a:r>
            <a:endParaRPr lang="en-US" dirty="0" smtClean="0"/>
          </a:p>
          <a:p>
            <a:pPr marL="880110" lvl="1" indent="-514350">
              <a:buFont typeface="Arial" panose="020B0604020202020204" pitchFamily="34" charset="0"/>
              <a:buChar char="•"/>
            </a:pPr>
            <a:r>
              <a:rPr lang="en-US" dirty="0" smtClean="0"/>
              <a:t>Structure</a:t>
            </a:r>
            <a:r>
              <a:rPr lang="en-US" dirty="0"/>
              <a:t>, </a:t>
            </a:r>
            <a:endParaRPr lang="en-US" dirty="0" smtClean="0"/>
          </a:p>
          <a:p>
            <a:pPr marL="880110" lvl="1" indent="-514350">
              <a:buFont typeface="Arial" panose="020B0604020202020204" pitchFamily="34" charset="0"/>
              <a:buChar char="•"/>
            </a:pPr>
            <a:r>
              <a:rPr lang="en-US" dirty="0" smtClean="0"/>
              <a:t>Normalize</a:t>
            </a:r>
          </a:p>
          <a:p>
            <a:pPr marL="880110" lvl="1" indent="-514350">
              <a:buFont typeface="Arial" panose="020B0604020202020204" pitchFamily="34" charset="0"/>
              <a:buChar char="•"/>
            </a:pPr>
            <a:r>
              <a:rPr lang="en-US" dirty="0" smtClean="0"/>
              <a:t>Enrich </a:t>
            </a:r>
            <a:r>
              <a:rPr lang="en-US" dirty="0"/>
              <a:t>data to align with analysis </a:t>
            </a:r>
            <a:r>
              <a:rPr lang="en-US" dirty="0" smtClean="0"/>
              <a:t>needs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9888"/>
            <a:ext cx="8229600" cy="819912"/>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Key Steps of Data </a:t>
            </a:r>
            <a:r>
              <a:rPr lang="en-US" dirty="0"/>
              <a:t>W</a:t>
            </a:r>
            <a:r>
              <a:rPr lang="en-US" dirty="0" smtClean="0"/>
              <a:t>rangling</a:t>
            </a:r>
            <a:br>
              <a:rPr lang="en-US" dirty="0" smtClean="0"/>
            </a:br>
            <a:endParaRPr lang="en-US" dirty="0"/>
          </a:p>
        </p:txBody>
      </p:sp>
      <p:sp>
        <p:nvSpPr>
          <p:cNvPr id="3" name="Content Placeholder 2"/>
          <p:cNvSpPr>
            <a:spLocks noGrp="1"/>
          </p:cNvSpPr>
          <p:nvPr>
            <p:ph idx="1"/>
          </p:nvPr>
        </p:nvSpPr>
        <p:spPr>
          <a:xfrm>
            <a:off x="457200" y="2011680"/>
            <a:ext cx="8534400" cy="4541520"/>
          </a:xfrm>
        </p:spPr>
        <p:txBody>
          <a:bodyPr>
            <a:normAutofit/>
          </a:bodyPr>
          <a:lstStyle/>
          <a:p>
            <a:pPr marL="514350" indent="-514350">
              <a:buFont typeface="+mj-lt"/>
              <a:buAutoNum type="arabicPeriod" startAt="4"/>
            </a:pPr>
            <a:r>
              <a:rPr lang="en-US" b="1" dirty="0" smtClean="0"/>
              <a:t>Data </a:t>
            </a:r>
            <a:r>
              <a:rPr lang="en-US" b="1" dirty="0"/>
              <a:t>Validation</a:t>
            </a:r>
            <a:r>
              <a:rPr lang="en-US" b="1" dirty="0" smtClean="0"/>
              <a:t>:</a:t>
            </a:r>
          </a:p>
          <a:p>
            <a:pPr marL="880110" lvl="1" indent="-514350">
              <a:buFont typeface="Arial" panose="020B0604020202020204" pitchFamily="34" charset="0"/>
              <a:buChar char="•"/>
            </a:pPr>
            <a:r>
              <a:rPr lang="en-US" dirty="0" smtClean="0"/>
              <a:t>Check </a:t>
            </a:r>
            <a:r>
              <a:rPr lang="en-US" dirty="0"/>
              <a:t>the accuracy </a:t>
            </a:r>
          </a:p>
          <a:p>
            <a:pPr marL="880110" lvl="1" indent="-514350">
              <a:buFont typeface="Arial" panose="020B0604020202020204" pitchFamily="34" charset="0"/>
              <a:buChar char="•"/>
            </a:pPr>
            <a:r>
              <a:rPr lang="en-US" dirty="0" smtClean="0"/>
              <a:t>Check consistency </a:t>
            </a:r>
            <a:r>
              <a:rPr lang="en-US" dirty="0"/>
              <a:t>of the data </a:t>
            </a:r>
            <a:endParaRPr lang="en-US" dirty="0" smtClean="0"/>
          </a:p>
          <a:p>
            <a:pPr marL="880110" lvl="1" indent="-514350">
              <a:buFont typeface="Arial" panose="020B0604020202020204" pitchFamily="34" charset="0"/>
              <a:buChar char="•"/>
            </a:pPr>
            <a:r>
              <a:rPr lang="en-US" dirty="0" smtClean="0"/>
              <a:t>Automate validation</a:t>
            </a:r>
          </a:p>
          <a:p>
            <a:pPr marL="514350" indent="-514350">
              <a:buFont typeface="+mj-lt"/>
              <a:buAutoNum type="arabicPeriod" startAt="4"/>
            </a:pPr>
            <a:r>
              <a:rPr lang="en-US" b="1" dirty="0"/>
              <a:t>Data Publishing:</a:t>
            </a:r>
            <a:r>
              <a:rPr lang="en-US" dirty="0"/>
              <a:t> </a:t>
            </a:r>
            <a:endParaRPr lang="en-US" dirty="0" smtClean="0"/>
          </a:p>
          <a:p>
            <a:pPr marL="880110" lvl="1" indent="-514350">
              <a:buFont typeface="Arial" panose="020B0604020202020204" pitchFamily="34" charset="0"/>
              <a:buChar char="•"/>
            </a:pPr>
            <a:r>
              <a:rPr lang="en-US" dirty="0" smtClean="0"/>
              <a:t>Export </a:t>
            </a:r>
            <a:r>
              <a:rPr lang="en-US" dirty="0"/>
              <a:t>the cleaned </a:t>
            </a:r>
            <a:r>
              <a:rPr lang="en-US" dirty="0" smtClean="0"/>
              <a:t>data </a:t>
            </a:r>
          </a:p>
          <a:p>
            <a:pPr marL="880110" lvl="1" indent="-514350">
              <a:buFont typeface="Arial" panose="020B0604020202020204" pitchFamily="34" charset="0"/>
              <a:buChar char="•"/>
            </a:pPr>
            <a:r>
              <a:rPr lang="en-US" dirty="0" smtClean="0"/>
              <a:t>Export validated </a:t>
            </a:r>
            <a:r>
              <a:rPr lang="en-US" dirty="0"/>
              <a:t>data </a:t>
            </a:r>
            <a:endParaRPr lang="en-US" dirty="0" smtClean="0"/>
          </a:p>
          <a:p>
            <a:pPr marL="880110" lvl="1" indent="-514350">
              <a:buFont typeface="Arial" panose="020B0604020202020204" pitchFamily="34" charset="0"/>
              <a:buChar char="•"/>
            </a:pPr>
            <a:r>
              <a:rPr lang="en-US" dirty="0" smtClean="0"/>
              <a:t>Prepare analysis e.g. dashboards </a:t>
            </a:r>
            <a:r>
              <a:rPr lang="en-US" dirty="0"/>
              <a:t>and </a:t>
            </a:r>
            <a:r>
              <a:rPr lang="en-US" dirty="0" smtClean="0"/>
              <a:t>reports</a:t>
            </a:r>
            <a:endParaRPr lang="en-US" dirty="0"/>
          </a:p>
        </p:txBody>
      </p:sp>
    </p:spTree>
    <p:extLst>
      <p:ext uri="{BB962C8B-B14F-4D97-AF65-F5344CB8AC3E}">
        <p14:creationId xmlns:p14="http://schemas.microsoft.com/office/powerpoint/2010/main" val="3279102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Data Wrangling: Discover Data</a:t>
            </a:r>
            <a:endParaRPr lang="en-US" dirty="0"/>
          </a:p>
        </p:txBody>
      </p:sp>
      <p:sp>
        <p:nvSpPr>
          <p:cNvPr id="3" name="Content Placeholder 2"/>
          <p:cNvSpPr>
            <a:spLocks noGrp="1"/>
          </p:cNvSpPr>
          <p:nvPr>
            <p:ph idx="1"/>
          </p:nvPr>
        </p:nvSpPr>
        <p:spPr>
          <a:xfrm>
            <a:off x="457200" y="1905000"/>
            <a:ext cx="8229600" cy="4617720"/>
          </a:xfrm>
        </p:spPr>
        <p:txBody>
          <a:bodyPr>
            <a:normAutofit/>
          </a:bodyPr>
          <a:lstStyle/>
          <a:p>
            <a:pPr algn="just"/>
            <a:r>
              <a:rPr lang="en-US" b="1" dirty="0" smtClean="0"/>
              <a:t>Import raw data:</a:t>
            </a:r>
            <a:r>
              <a:rPr lang="en-US" dirty="0" smtClean="0"/>
              <a:t> </a:t>
            </a:r>
          </a:p>
          <a:p>
            <a:pPr lvl="1" algn="just"/>
            <a:r>
              <a:rPr lang="en-US" dirty="0" smtClean="0"/>
              <a:t>Data sets are commonly saved as CSV, JSON, SQL or excel files. </a:t>
            </a:r>
          </a:p>
          <a:p>
            <a:pPr lvl="1" algn="just"/>
            <a:r>
              <a:rPr lang="en-US" dirty="0" smtClean="0"/>
              <a:t>Once you’ve imported the data file(s), Pandas </a:t>
            </a:r>
            <a:r>
              <a:rPr lang="en-US" dirty="0" err="1" smtClean="0"/>
              <a:t>DataFrames</a:t>
            </a:r>
            <a:r>
              <a:rPr lang="en-US" dirty="0" smtClean="0"/>
              <a:t> allow you to visualize the data in tabular format</a:t>
            </a:r>
          </a:p>
          <a:p>
            <a:pPr algn="just"/>
            <a:r>
              <a:rPr lang="en-US" b="1" dirty="0" smtClean="0"/>
              <a:t>Select/structure data:</a:t>
            </a:r>
            <a:r>
              <a:rPr lang="en-US" dirty="0" smtClean="0"/>
              <a:t> </a:t>
            </a:r>
          </a:p>
          <a:p>
            <a:pPr lvl="1" algn="just"/>
            <a:r>
              <a:rPr lang="en-US" dirty="0" smtClean="0"/>
              <a:t>You can now select the data rows and columns that are relevant to your project. </a:t>
            </a:r>
          </a:p>
          <a:p>
            <a:pPr lvl="1" algn="just"/>
            <a:r>
              <a:rPr lang="en-US" dirty="0" smtClean="0"/>
              <a:t>You may also have to merge data from different files to create one data set that you can start working on. </a:t>
            </a:r>
          </a:p>
          <a:p>
            <a:pPr algn="just"/>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Selecting Rows and Columns, Filtering </a:t>
            </a:r>
            <a:r>
              <a:rPr lang="en-US" dirty="0" err="1"/>
              <a:t>DataFrames</a:t>
            </a:r>
            <a:endParaRPr lang="en-US" dirty="0"/>
          </a:p>
        </p:txBody>
      </p:sp>
      <p:sp>
        <p:nvSpPr>
          <p:cNvPr id="3" name="Content Placeholder 2"/>
          <p:cNvSpPr>
            <a:spLocks noGrp="1"/>
          </p:cNvSpPr>
          <p:nvPr>
            <p:ph idx="1"/>
          </p:nvPr>
        </p:nvSpPr>
        <p:spPr>
          <a:xfrm>
            <a:off x="457200" y="2057400"/>
            <a:ext cx="8229600" cy="4267200"/>
          </a:xfrm>
        </p:spPr>
        <p:txBody>
          <a:bodyPr/>
          <a:lstStyle/>
          <a:p>
            <a:r>
              <a:rPr lang="en-US" dirty="0" smtClean="0"/>
              <a:t>Indexing and Slicing </a:t>
            </a:r>
            <a:r>
              <a:rPr lang="en-US" dirty="0" err="1" smtClean="0"/>
              <a:t>DataFrames</a:t>
            </a:r>
            <a:r>
              <a:rPr lang="en-US" dirty="0"/>
              <a:t>:  select specific rows and columns based on labels or integer positions</a:t>
            </a:r>
          </a:p>
          <a:p>
            <a:pPr lvl="1"/>
            <a:r>
              <a:rPr lang="en-US" dirty="0" smtClean="0"/>
              <a:t>.</a:t>
            </a:r>
            <a:r>
              <a:rPr lang="en-US" dirty="0" err="1" smtClean="0"/>
              <a:t>loc</a:t>
            </a:r>
            <a:r>
              <a:rPr lang="en-US" dirty="0" smtClean="0"/>
              <a:t>[]: </a:t>
            </a:r>
            <a:r>
              <a:rPr lang="en-US" dirty="0"/>
              <a:t>label-based indexing</a:t>
            </a:r>
            <a:endParaRPr lang="en-US" dirty="0" smtClean="0"/>
          </a:p>
          <a:p>
            <a:pPr lvl="1"/>
            <a:r>
              <a:rPr lang="en-US" dirty="0" smtClean="0"/>
              <a:t>.</a:t>
            </a:r>
            <a:r>
              <a:rPr lang="en-US" dirty="0" err="1" smtClean="0"/>
              <a:t>iloc</a:t>
            </a:r>
            <a:r>
              <a:rPr lang="en-US" dirty="0" smtClean="0"/>
              <a:t>[]: </a:t>
            </a:r>
            <a:r>
              <a:rPr lang="en-US" dirty="0"/>
              <a:t>integer-based indexing</a:t>
            </a:r>
            <a:endParaRPr lang="en-US" dirty="0" smtClean="0"/>
          </a:p>
          <a:p>
            <a:pPr lvl="1"/>
            <a:r>
              <a:rPr lang="en-US" dirty="0" smtClean="0"/>
              <a:t>Boolean indexing: </a:t>
            </a:r>
            <a:r>
              <a:rPr lang="en-US" dirty="0" err="1"/>
              <a:t>boolean</a:t>
            </a:r>
            <a:r>
              <a:rPr lang="en-US" dirty="0"/>
              <a:t> expressions to filter data based on specific conditions</a:t>
            </a:r>
            <a:endParaRPr lang="en-US" dirty="0" smtClean="0"/>
          </a:p>
        </p:txBody>
      </p:sp>
    </p:spTree>
    <p:extLst>
      <p:ext uri="{BB962C8B-B14F-4D97-AF65-F5344CB8AC3E}">
        <p14:creationId xmlns:p14="http://schemas.microsoft.com/office/powerpoint/2010/main" val="9409442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Selecting Rows and Columns, Filtering </a:t>
            </a:r>
            <a:r>
              <a:rPr lang="en-US" dirty="0" err="1"/>
              <a:t>DataFrames</a:t>
            </a:r>
            <a:endParaRPr lang="en-US" dirty="0"/>
          </a:p>
        </p:txBody>
      </p:sp>
      <p:sp>
        <p:nvSpPr>
          <p:cNvPr id="3" name="Content Placeholder 2"/>
          <p:cNvSpPr>
            <a:spLocks noGrp="1"/>
          </p:cNvSpPr>
          <p:nvPr>
            <p:ph idx="1"/>
          </p:nvPr>
        </p:nvSpPr>
        <p:spPr/>
        <p:txBody>
          <a:bodyPr/>
          <a:lstStyle/>
          <a:p>
            <a:r>
              <a:rPr lang="en-US" dirty="0" smtClean="0"/>
              <a:t>Filtering </a:t>
            </a:r>
            <a:r>
              <a:rPr lang="en-US" dirty="0" err="1" smtClean="0"/>
              <a:t>DataFrames</a:t>
            </a:r>
            <a:endParaRPr lang="en-US" dirty="0" smtClean="0"/>
          </a:p>
          <a:p>
            <a:pPr lvl="1"/>
            <a:r>
              <a:rPr lang="en-US" dirty="0"/>
              <a:t>Filtering with </a:t>
            </a:r>
            <a:r>
              <a:rPr lang="en-US" dirty="0" smtClean="0"/>
              <a:t>conditions: </a:t>
            </a:r>
            <a:r>
              <a:rPr lang="en-US" dirty="0"/>
              <a:t>to filter data based on specific conditions using </a:t>
            </a:r>
            <a:r>
              <a:rPr lang="en-US" dirty="0" err="1"/>
              <a:t>boolean</a:t>
            </a:r>
            <a:r>
              <a:rPr lang="en-US" dirty="0"/>
              <a:t> </a:t>
            </a:r>
            <a:r>
              <a:rPr lang="en-US" dirty="0" smtClean="0"/>
              <a:t>expressions </a:t>
            </a:r>
          </a:p>
          <a:p>
            <a:pPr lvl="2"/>
            <a:r>
              <a:rPr lang="en-US" dirty="0" smtClean="0"/>
              <a:t>comparison operators(&gt;, </a:t>
            </a:r>
            <a:r>
              <a:rPr lang="en-US" dirty="0"/>
              <a:t>&lt;, ==, etc.) </a:t>
            </a:r>
            <a:endParaRPr lang="en-US" dirty="0" smtClean="0"/>
          </a:p>
          <a:p>
            <a:pPr lvl="1"/>
            <a:r>
              <a:rPr lang="en-US" dirty="0"/>
              <a:t>Combining </a:t>
            </a:r>
            <a:r>
              <a:rPr lang="en-US" dirty="0" smtClean="0"/>
              <a:t>filters: </a:t>
            </a:r>
            <a:r>
              <a:rPr lang="en-US" dirty="0"/>
              <a:t>to combine multiple filters using logical operators like '&amp;' (and), '|' (or), and '~' (not)</a:t>
            </a:r>
            <a:endParaRPr lang="en-US" dirty="0" smtClean="0"/>
          </a:p>
          <a:p>
            <a:pPr lvl="1"/>
            <a:r>
              <a:rPr lang="en-US" dirty="0"/>
              <a:t>Using </a:t>
            </a:r>
            <a:r>
              <a:rPr lang="en-US" dirty="0" err="1"/>
              <a:t>isin</a:t>
            </a:r>
            <a:r>
              <a:rPr lang="en-US" dirty="0" smtClean="0"/>
              <a:t>(): to use </a:t>
            </a:r>
            <a:r>
              <a:rPr lang="en-US" dirty="0" err="1" smtClean="0"/>
              <a:t>isin</a:t>
            </a:r>
            <a:r>
              <a:rPr lang="en-US" dirty="0" smtClean="0"/>
              <a:t>() method to filter data based on whether values are present in a specified list</a:t>
            </a:r>
            <a:endParaRPr lang="en-US" dirty="0"/>
          </a:p>
        </p:txBody>
      </p:sp>
    </p:spTree>
    <p:extLst>
      <p:ext uri="{BB962C8B-B14F-4D97-AF65-F5344CB8AC3E}">
        <p14:creationId xmlns:p14="http://schemas.microsoft.com/office/powerpoint/2010/main" val="1158487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Exploring and Cleaning the Dataset</a:t>
            </a:r>
          </a:p>
        </p:txBody>
      </p:sp>
      <p:sp>
        <p:nvSpPr>
          <p:cNvPr id="3" name="Content Placeholder 2"/>
          <p:cNvSpPr>
            <a:spLocks noGrp="1"/>
          </p:cNvSpPr>
          <p:nvPr>
            <p:ph idx="1"/>
          </p:nvPr>
        </p:nvSpPr>
        <p:spPr>
          <a:xfrm>
            <a:off x="457200" y="1935480"/>
            <a:ext cx="8458200" cy="4389120"/>
          </a:xfrm>
        </p:spPr>
        <p:txBody>
          <a:bodyPr>
            <a:normAutofit/>
          </a:bodyPr>
          <a:lstStyle/>
          <a:p>
            <a:r>
              <a:rPr lang="en-US" b="1" dirty="0"/>
              <a:t>Data inspection: </a:t>
            </a:r>
            <a:r>
              <a:rPr lang="en-US" dirty="0" smtClean="0"/>
              <a:t>to </a:t>
            </a:r>
            <a:r>
              <a:rPr lang="en-US" dirty="0"/>
              <a:t>use methods like head(), tail(), info(), describe(), and the shape attribute </a:t>
            </a:r>
            <a:endParaRPr lang="en-US" dirty="0" smtClean="0"/>
          </a:p>
          <a:p>
            <a:r>
              <a:rPr lang="en-US" b="1" dirty="0" smtClean="0"/>
              <a:t>Handling </a:t>
            </a:r>
            <a:r>
              <a:rPr lang="en-US" b="1" dirty="0"/>
              <a:t>missing data: </a:t>
            </a:r>
            <a:r>
              <a:rPr lang="en-US" dirty="0" smtClean="0"/>
              <a:t>to </a:t>
            </a:r>
            <a:r>
              <a:rPr lang="en-US" dirty="0"/>
              <a:t>identify missing data using methods like </a:t>
            </a:r>
            <a:r>
              <a:rPr lang="en-US" dirty="0" err="1"/>
              <a:t>isna</a:t>
            </a:r>
            <a:r>
              <a:rPr lang="en-US" dirty="0"/>
              <a:t>() and </a:t>
            </a:r>
            <a:r>
              <a:rPr lang="en-US" dirty="0" err="1"/>
              <a:t>isnull</a:t>
            </a:r>
            <a:r>
              <a:rPr lang="en-US" dirty="0"/>
              <a:t>(), and handle it using </a:t>
            </a:r>
            <a:r>
              <a:rPr lang="en-US" dirty="0" err="1"/>
              <a:t>dropna</a:t>
            </a:r>
            <a:r>
              <a:rPr lang="en-US" dirty="0"/>
              <a:t>(), </a:t>
            </a:r>
            <a:r>
              <a:rPr lang="en-US" dirty="0" err="1"/>
              <a:t>fillna</a:t>
            </a:r>
            <a:r>
              <a:rPr lang="en-US" dirty="0"/>
              <a:t>(), or imputation </a:t>
            </a:r>
            <a:r>
              <a:rPr lang="en-US" dirty="0" smtClean="0"/>
              <a:t>methods</a:t>
            </a:r>
          </a:p>
          <a:p>
            <a:r>
              <a:rPr lang="en-US" b="1" dirty="0"/>
              <a:t>Dealing with duplicates: </a:t>
            </a:r>
            <a:r>
              <a:rPr lang="en-US" dirty="0" smtClean="0"/>
              <a:t>to </a:t>
            </a:r>
            <a:r>
              <a:rPr lang="en-US" dirty="0"/>
              <a:t>detect and remove duplicate rows using methods like duplicated() and </a:t>
            </a:r>
            <a:r>
              <a:rPr lang="en-US" dirty="0" err="1"/>
              <a:t>drop_duplicates</a:t>
            </a:r>
            <a:r>
              <a:rPr lang="en-US" dirty="0" smtClean="0"/>
              <a:t>()</a:t>
            </a:r>
          </a:p>
          <a:p>
            <a:endParaRPr lang="en-US" dirty="0"/>
          </a:p>
        </p:txBody>
      </p:sp>
    </p:spTree>
    <p:extLst>
      <p:ext uri="{BB962C8B-B14F-4D97-AF65-F5344CB8AC3E}">
        <p14:creationId xmlns:p14="http://schemas.microsoft.com/office/powerpoint/2010/main" val="2152569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Exploring and Cleaning the Dataset</a:t>
            </a:r>
          </a:p>
        </p:txBody>
      </p:sp>
      <p:sp>
        <p:nvSpPr>
          <p:cNvPr id="3" name="Content Placeholder 2"/>
          <p:cNvSpPr>
            <a:spLocks noGrp="1"/>
          </p:cNvSpPr>
          <p:nvPr>
            <p:ph idx="1"/>
          </p:nvPr>
        </p:nvSpPr>
        <p:spPr>
          <a:xfrm>
            <a:off x="457200" y="1935480"/>
            <a:ext cx="8458200" cy="4389120"/>
          </a:xfrm>
        </p:spPr>
        <p:txBody>
          <a:bodyPr>
            <a:normAutofit/>
          </a:bodyPr>
          <a:lstStyle/>
          <a:p>
            <a:r>
              <a:rPr lang="en-US" b="1" dirty="0" smtClean="0"/>
              <a:t>Cleaning </a:t>
            </a:r>
            <a:r>
              <a:rPr lang="en-US" b="1" dirty="0"/>
              <a:t>string columns: </a:t>
            </a:r>
            <a:r>
              <a:rPr lang="en-US" dirty="0" smtClean="0"/>
              <a:t>to </a:t>
            </a:r>
            <a:r>
              <a:rPr lang="en-US" dirty="0"/>
              <a:t>use the .</a:t>
            </a:r>
            <a:r>
              <a:rPr lang="en-US" dirty="0" err="1"/>
              <a:t>str</a:t>
            </a:r>
            <a:r>
              <a:rPr lang="en-US" dirty="0"/>
              <a:t> </a:t>
            </a:r>
            <a:r>
              <a:rPr lang="en-US" dirty="0" err="1"/>
              <a:t>accessor</a:t>
            </a:r>
            <a:r>
              <a:rPr lang="en-US" dirty="0"/>
              <a:t> and string methods to perform string cleaning tasks like removing whitespaces, extracting and replacing substrings, splitting and joining strings, and </a:t>
            </a:r>
            <a:r>
              <a:rPr lang="en-US" dirty="0" smtClean="0"/>
              <a:t>more</a:t>
            </a:r>
          </a:p>
          <a:p>
            <a:r>
              <a:rPr lang="en-US" b="1" dirty="0"/>
              <a:t>Data type conversion: </a:t>
            </a:r>
            <a:r>
              <a:rPr lang="en-US" dirty="0" smtClean="0"/>
              <a:t>to </a:t>
            </a:r>
            <a:r>
              <a:rPr lang="en-US" dirty="0"/>
              <a:t>convert data types using methods like </a:t>
            </a:r>
            <a:r>
              <a:rPr lang="en-US" dirty="0" err="1"/>
              <a:t>astype</a:t>
            </a:r>
            <a:r>
              <a:rPr lang="en-US" dirty="0"/>
              <a:t>().</a:t>
            </a:r>
            <a:endParaRPr lang="en-US" dirty="0" smtClean="0"/>
          </a:p>
          <a:p>
            <a:endParaRPr lang="en-US" dirty="0"/>
          </a:p>
        </p:txBody>
      </p:sp>
    </p:spTree>
    <p:extLst>
      <p:ext uri="{BB962C8B-B14F-4D97-AF65-F5344CB8AC3E}">
        <p14:creationId xmlns:p14="http://schemas.microsoft.com/office/powerpoint/2010/main" val="318896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Wrangling: Transform Data</a:t>
            </a:r>
            <a:endParaRPr lang="en-US" dirty="0"/>
          </a:p>
        </p:txBody>
      </p:sp>
      <p:sp>
        <p:nvSpPr>
          <p:cNvPr id="3" name="Content Placeholder 2"/>
          <p:cNvSpPr>
            <a:spLocks noGrp="1"/>
          </p:cNvSpPr>
          <p:nvPr>
            <p:ph idx="1"/>
          </p:nvPr>
        </p:nvSpPr>
        <p:spPr>
          <a:xfrm>
            <a:off x="457200" y="1935480"/>
            <a:ext cx="8229600" cy="4922520"/>
          </a:xfrm>
        </p:spPr>
        <p:txBody>
          <a:bodyPr>
            <a:normAutofit fontScale="77500" lnSpcReduction="20000"/>
          </a:bodyPr>
          <a:lstStyle/>
          <a:p>
            <a:pPr algn="just"/>
            <a:r>
              <a:rPr lang="en-US" b="1" dirty="0" smtClean="0"/>
              <a:t>Data standardization</a:t>
            </a:r>
            <a:r>
              <a:rPr lang="en-US" dirty="0" smtClean="0"/>
              <a:t>: </a:t>
            </a:r>
          </a:p>
          <a:p>
            <a:pPr lvl="1" algn="just"/>
            <a:r>
              <a:rPr lang="en-US" dirty="0" smtClean="0"/>
              <a:t>This is crucial to ensure there can be a meaningful comparison of data points. </a:t>
            </a:r>
          </a:p>
          <a:p>
            <a:pPr lvl="1" algn="just"/>
            <a:r>
              <a:rPr lang="en-US" dirty="0" smtClean="0"/>
              <a:t>For example, if a raw data set includes temperature values measured in both Fahrenheit and Celsius, they must all be converted to one or the other before a model can be run effectively.  </a:t>
            </a:r>
          </a:p>
          <a:p>
            <a:pPr algn="just"/>
            <a:r>
              <a:rPr lang="en-US" b="1" dirty="0" smtClean="0"/>
              <a:t>Data normalization</a:t>
            </a:r>
            <a:r>
              <a:rPr lang="en-US" dirty="0" smtClean="0"/>
              <a:t>: </a:t>
            </a:r>
          </a:p>
          <a:p>
            <a:pPr lvl="1" algn="just"/>
            <a:r>
              <a:rPr lang="en-US" dirty="0" smtClean="0"/>
              <a:t>This involves mapping all the nominal data values onto a uniform scale (e.g. from 0 to 1). </a:t>
            </a:r>
          </a:p>
          <a:p>
            <a:pPr lvl="1" algn="just"/>
            <a:r>
              <a:rPr lang="en-US" dirty="0" smtClean="0"/>
              <a:t>Making the ranges consistent across variables should help with statistical analysis and ensure fairer comparisons later on.</a:t>
            </a:r>
          </a:p>
          <a:p>
            <a:pPr algn="just"/>
            <a:r>
              <a:rPr lang="en-US" b="1" dirty="0" smtClean="0"/>
              <a:t>Data binning: </a:t>
            </a:r>
          </a:p>
          <a:p>
            <a:pPr lvl="1" algn="just"/>
            <a:r>
              <a:rPr lang="en-US" dirty="0" smtClean="0"/>
              <a:t>This is about grouping data values into ‘bins’, which enables analysis of a smaller number of ‘category’ variables and may be more useful. </a:t>
            </a:r>
          </a:p>
          <a:p>
            <a:pPr lvl="1" algn="just"/>
            <a:r>
              <a:rPr lang="en-US" dirty="0" smtClean="0"/>
              <a:t>For example, people’s ages are often grouped into ranges (or ‘bins’) such as 18-24, 25-34, 35-44, etc.    </a:t>
            </a:r>
          </a:p>
          <a:p>
            <a:pPr algn="just">
              <a:buNone/>
            </a:pPr>
            <a:r>
              <a:rPr lang="en-US" dirty="0" smtClean="0"/>
              <a:t/>
            </a:r>
            <a:br>
              <a:rPr lang="en-US" dirty="0" smtClean="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Wrangling: Explore Data</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This is like a bridge between the data wrangling and the data modeling phases. </a:t>
            </a:r>
          </a:p>
          <a:p>
            <a:pPr algn="just"/>
            <a:r>
              <a:rPr lang="en-US" dirty="0" smtClean="0"/>
              <a:t>It’s a time to get a better understanding of the data set, learn about the main characteristics of the data and discover some of the patterns or correlations between key data variables. </a:t>
            </a:r>
          </a:p>
          <a:p>
            <a:pPr algn="just"/>
            <a:r>
              <a:rPr lang="en-US" b="1" dirty="0" smtClean="0"/>
              <a:t>Descriptive statistics: </a:t>
            </a:r>
          </a:p>
          <a:p>
            <a:pPr lvl="1" algn="just"/>
            <a:r>
              <a:rPr lang="en-US" dirty="0" smtClean="0"/>
              <a:t>Python makes it easy to use methods to view important statistical values (mean, median, max values, standard deviations, etc) in a clear and simple format</a:t>
            </a:r>
          </a:p>
          <a:p>
            <a:pPr lvl="1" algn="just"/>
            <a:r>
              <a:rPr lang="en-US" dirty="0" smtClean="0"/>
              <a:t>This provides a platform for starting statistical analysis</a:t>
            </a:r>
          </a:p>
          <a:p>
            <a:pPr algn="just"/>
            <a:endParaRPr lang="en-US" dirty="0" smtClean="0"/>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Wrangling: Explore Data</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Grouping: </a:t>
            </a:r>
          </a:p>
          <a:p>
            <a:pPr lvl="1" algn="just"/>
            <a:r>
              <a:rPr lang="en-US" dirty="0" smtClean="0"/>
              <a:t>It’s also useful to conduct analysis on ‘groups’ or subsets of the data.</a:t>
            </a:r>
          </a:p>
          <a:p>
            <a:pPr lvl="1" algn="just"/>
            <a:r>
              <a:rPr lang="en-US" dirty="0" smtClean="0"/>
              <a:t>Example: you are interested in predicting the prices of cars - the basic descriptive statistics will give you the mean price of all the cars in the data set, but grouping allows you to view the mean prices of cars with different characteristics (e.g. two-wheel drive </a:t>
            </a:r>
            <a:r>
              <a:rPr lang="en-US" dirty="0" err="1" smtClean="0"/>
              <a:t>vs</a:t>
            </a:r>
            <a:r>
              <a:rPr lang="en-US" dirty="0" smtClean="0"/>
              <a:t> four-wheel drive, sedan </a:t>
            </a:r>
            <a:r>
              <a:rPr lang="en-US" dirty="0" err="1" smtClean="0"/>
              <a:t>vs</a:t>
            </a:r>
            <a:r>
              <a:rPr lang="en-US" dirty="0" smtClean="0"/>
              <a:t> hatchback). </a:t>
            </a:r>
          </a:p>
          <a:p>
            <a:pPr lvl="1" algn="just"/>
            <a:r>
              <a:rPr lang="en-US" dirty="0" smtClean="0"/>
              <a:t>Pivot tables are a good way to visualize these groupings with two variables </a:t>
            </a:r>
          </a:p>
          <a:p>
            <a:pPr algn="just"/>
            <a:r>
              <a:rPr lang="en-US" b="1" dirty="0" smtClean="0"/>
              <a:t>Correlation: </a:t>
            </a:r>
          </a:p>
          <a:p>
            <a:pPr lvl="1" algn="just"/>
            <a:r>
              <a:rPr lang="en-US" dirty="0" smtClean="0"/>
              <a:t>The Pearson correlation is a classical mathematical technique for working out the interdependence between data variables. </a:t>
            </a:r>
          </a:p>
          <a:p>
            <a:pPr algn="just">
              <a:buNone/>
            </a:pPr>
            <a:endParaRPr lang="en-US" dirty="0" smtClean="0"/>
          </a:p>
          <a:p>
            <a:pPr algn="just"/>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Transformations, </a:t>
            </a:r>
            <a:r>
              <a:rPr lang="en-US" dirty="0" err="1"/>
              <a:t>GroupBy</a:t>
            </a:r>
            <a:r>
              <a:rPr lang="en-US" dirty="0"/>
              <a:t>, and Aggregations </a:t>
            </a:r>
          </a:p>
        </p:txBody>
      </p:sp>
      <p:sp>
        <p:nvSpPr>
          <p:cNvPr id="3" name="Content Placeholder 2"/>
          <p:cNvSpPr>
            <a:spLocks noGrp="1"/>
          </p:cNvSpPr>
          <p:nvPr>
            <p:ph idx="1"/>
          </p:nvPr>
        </p:nvSpPr>
        <p:spPr/>
        <p:txBody>
          <a:bodyPr/>
          <a:lstStyle/>
          <a:p>
            <a:r>
              <a:rPr lang="en-US" b="1" dirty="0" smtClean="0"/>
              <a:t>Summarize </a:t>
            </a:r>
            <a:r>
              <a:rPr lang="en-US" b="1" dirty="0"/>
              <a:t>data based on different </a:t>
            </a:r>
            <a:r>
              <a:rPr lang="en-US" b="1" dirty="0" smtClean="0"/>
              <a:t>criteria</a:t>
            </a:r>
          </a:p>
          <a:p>
            <a:pPr lvl="1"/>
            <a:r>
              <a:rPr lang="en-US" dirty="0"/>
              <a:t>Data </a:t>
            </a:r>
            <a:r>
              <a:rPr lang="en-US" dirty="0" smtClean="0"/>
              <a:t>transformations</a:t>
            </a:r>
          </a:p>
          <a:p>
            <a:pPr lvl="1"/>
            <a:r>
              <a:rPr lang="en-US" dirty="0"/>
              <a:t>Apply </a:t>
            </a:r>
            <a:r>
              <a:rPr lang="en-US" dirty="0" smtClean="0"/>
              <a:t>functions</a:t>
            </a:r>
          </a:p>
          <a:p>
            <a:pPr lvl="1"/>
            <a:r>
              <a:rPr lang="en-US" dirty="0"/>
              <a:t>Reshaping </a:t>
            </a:r>
            <a:r>
              <a:rPr lang="en-US" dirty="0" smtClean="0"/>
              <a:t>data</a:t>
            </a:r>
          </a:p>
          <a:p>
            <a:pPr lvl="1"/>
            <a:r>
              <a:rPr lang="en-US" dirty="0" err="1"/>
              <a:t>GroupBy</a:t>
            </a:r>
            <a:r>
              <a:rPr lang="en-US" dirty="0"/>
              <a:t> </a:t>
            </a:r>
            <a:r>
              <a:rPr lang="en-US" dirty="0" smtClean="0"/>
              <a:t>functionality</a:t>
            </a:r>
          </a:p>
          <a:p>
            <a:pPr lvl="1"/>
            <a:r>
              <a:rPr lang="en-US" dirty="0"/>
              <a:t>Aggregate functions</a:t>
            </a:r>
          </a:p>
        </p:txBody>
      </p:sp>
    </p:spTree>
    <p:extLst>
      <p:ext uri="{BB962C8B-B14F-4D97-AF65-F5344CB8AC3E}">
        <p14:creationId xmlns:p14="http://schemas.microsoft.com/office/powerpoint/2010/main" val="3317121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 and Pivot Tables</a:t>
            </a:r>
          </a:p>
        </p:txBody>
      </p:sp>
      <p:sp>
        <p:nvSpPr>
          <p:cNvPr id="3" name="Content Placeholder 2"/>
          <p:cNvSpPr>
            <a:spLocks noGrp="1"/>
          </p:cNvSpPr>
          <p:nvPr>
            <p:ph idx="1"/>
          </p:nvPr>
        </p:nvSpPr>
        <p:spPr/>
        <p:txBody>
          <a:bodyPr/>
          <a:lstStyle/>
          <a:p>
            <a:r>
              <a:rPr lang="en-US" dirty="0"/>
              <a:t>Merging </a:t>
            </a:r>
            <a:r>
              <a:rPr lang="en-US" dirty="0" err="1" smtClean="0"/>
              <a:t>DataFrames</a:t>
            </a:r>
            <a:endParaRPr lang="en-US" dirty="0" smtClean="0"/>
          </a:p>
          <a:p>
            <a:r>
              <a:rPr lang="en-US" dirty="0" smtClean="0"/>
              <a:t>Concatenation</a:t>
            </a:r>
          </a:p>
          <a:p>
            <a:r>
              <a:rPr lang="en-US" dirty="0"/>
              <a:t>Index </a:t>
            </a:r>
            <a:r>
              <a:rPr lang="en-US" dirty="0" smtClean="0"/>
              <a:t>manipulation</a:t>
            </a:r>
          </a:p>
          <a:p>
            <a:r>
              <a:rPr lang="en-US" dirty="0"/>
              <a:t>Creating pivot tables</a:t>
            </a:r>
          </a:p>
        </p:txBody>
      </p:sp>
    </p:spTree>
    <p:extLst>
      <p:ext uri="{BB962C8B-B14F-4D97-AF65-F5344CB8AC3E}">
        <p14:creationId xmlns:p14="http://schemas.microsoft.com/office/powerpoint/2010/main" val="1538614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with Missing Data</a:t>
            </a:r>
            <a:endParaRPr lang="en-US" dirty="0"/>
          </a:p>
        </p:txBody>
      </p:sp>
      <p:sp>
        <p:nvSpPr>
          <p:cNvPr id="3" name="Content Placeholder 2"/>
          <p:cNvSpPr>
            <a:spLocks noGrp="1"/>
          </p:cNvSpPr>
          <p:nvPr>
            <p:ph idx="1"/>
          </p:nvPr>
        </p:nvSpPr>
        <p:spPr>
          <a:xfrm>
            <a:off x="457200" y="1935480"/>
            <a:ext cx="8229600" cy="4693920"/>
          </a:xfrm>
        </p:spPr>
        <p:txBody>
          <a:bodyPr>
            <a:normAutofit fontScale="77500" lnSpcReduction="20000"/>
          </a:bodyPr>
          <a:lstStyle/>
          <a:p>
            <a:pPr algn="just" fontAlgn="base"/>
            <a:r>
              <a:rPr lang="en-US" dirty="0" smtClean="0"/>
              <a:t>In Pandas missing data is represented by two value:</a:t>
            </a:r>
          </a:p>
          <a:p>
            <a:pPr lvl="1" algn="just" fontAlgn="base"/>
            <a:r>
              <a:rPr lang="en-US" dirty="0" smtClean="0"/>
              <a:t>None: None is a Python singleton object that is often used for missing data in Python code.</a:t>
            </a:r>
          </a:p>
          <a:p>
            <a:pPr lvl="1" algn="just" fontAlgn="base"/>
            <a:r>
              <a:rPr lang="en-US" dirty="0" err="1" smtClean="0"/>
              <a:t>NaN</a:t>
            </a:r>
            <a:r>
              <a:rPr lang="en-US" dirty="0" smtClean="0"/>
              <a:t> : </a:t>
            </a:r>
            <a:r>
              <a:rPr lang="en-US" dirty="0" err="1" smtClean="0"/>
              <a:t>NaN</a:t>
            </a:r>
            <a:r>
              <a:rPr lang="en-US" dirty="0" smtClean="0"/>
              <a:t> (an acronym for Not a Number), is a special floating-point value recognized by all systems that use the standard IEEE floating-point representation</a:t>
            </a:r>
          </a:p>
          <a:p>
            <a:pPr algn="just"/>
            <a:r>
              <a:rPr lang="en-US" dirty="0" smtClean="0"/>
              <a:t>Pandas treat None and </a:t>
            </a:r>
            <a:r>
              <a:rPr lang="en-US" dirty="0" err="1" smtClean="0"/>
              <a:t>NaN</a:t>
            </a:r>
            <a:r>
              <a:rPr lang="en-US" dirty="0" smtClean="0"/>
              <a:t> as essentially interchangeable for indicating missing or null values. </a:t>
            </a:r>
          </a:p>
          <a:p>
            <a:pPr algn="just"/>
            <a:r>
              <a:rPr lang="en-US" dirty="0" smtClean="0"/>
              <a:t>To facilitate this convention, there are several useful functions for detecting, removing, and replacing null values in Pandas </a:t>
            </a:r>
            <a:r>
              <a:rPr lang="en-US" dirty="0" err="1" smtClean="0"/>
              <a:t>DataFrame</a:t>
            </a:r>
            <a:r>
              <a:rPr lang="en-US" dirty="0" smtClean="0"/>
              <a:t> :</a:t>
            </a:r>
          </a:p>
          <a:p>
            <a:pPr lvl="1" algn="just"/>
            <a:r>
              <a:rPr lang="en-US" dirty="0" err="1" smtClean="0"/>
              <a:t>isnull</a:t>
            </a:r>
            <a:r>
              <a:rPr lang="en-US" dirty="0" smtClean="0"/>
              <a:t>()</a:t>
            </a:r>
          </a:p>
          <a:p>
            <a:pPr lvl="1" algn="just"/>
            <a:r>
              <a:rPr lang="en-US" dirty="0" err="1" smtClean="0"/>
              <a:t>notnull</a:t>
            </a:r>
            <a:r>
              <a:rPr lang="en-US" dirty="0" smtClean="0"/>
              <a:t>()</a:t>
            </a:r>
          </a:p>
          <a:p>
            <a:pPr lvl="1" algn="just"/>
            <a:r>
              <a:rPr lang="en-US" dirty="0" err="1" smtClean="0"/>
              <a:t>dropna</a:t>
            </a:r>
            <a:r>
              <a:rPr lang="en-US" dirty="0" smtClean="0"/>
              <a:t>()</a:t>
            </a:r>
          </a:p>
          <a:p>
            <a:pPr lvl="1" algn="just"/>
            <a:r>
              <a:rPr lang="en-US" dirty="0" err="1" smtClean="0"/>
              <a:t>fillna</a:t>
            </a:r>
            <a:r>
              <a:rPr lang="en-US" dirty="0" smtClean="0"/>
              <a:t>()</a:t>
            </a:r>
          </a:p>
          <a:p>
            <a:pPr lvl="1" algn="just"/>
            <a:r>
              <a:rPr lang="en-US" dirty="0" smtClean="0"/>
              <a:t>replace()</a:t>
            </a:r>
          </a:p>
          <a:p>
            <a:pPr lvl="1" algn="just"/>
            <a:r>
              <a:rPr lang="en-US" dirty="0" smtClean="0"/>
              <a:t>interpolate()</a:t>
            </a:r>
          </a:p>
          <a:p>
            <a:pPr algn="just"/>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Dimensions of Data Frame</a:t>
            </a:r>
            <a:endParaRPr lang="en-US" dirty="0"/>
          </a:p>
        </p:txBody>
      </p:sp>
      <p:sp>
        <p:nvSpPr>
          <p:cNvPr id="3" name="Content Placeholder 2"/>
          <p:cNvSpPr>
            <a:spLocks noGrp="1"/>
          </p:cNvSpPr>
          <p:nvPr>
            <p:ph idx="1"/>
          </p:nvPr>
        </p:nvSpPr>
        <p:spPr/>
        <p:txBody>
          <a:bodyPr/>
          <a:lstStyle/>
          <a:p>
            <a:r>
              <a:rPr lang="en-US" dirty="0" err="1" smtClean="0"/>
              <a:t>dataframe</a:t>
            </a:r>
            <a:r>
              <a:rPr lang="en-US" b="1" dirty="0" err="1" smtClean="0"/>
              <a:t>.size</a:t>
            </a:r>
            <a:endParaRPr lang="en-US" b="1" dirty="0" smtClean="0"/>
          </a:p>
          <a:p>
            <a:pPr lvl="1"/>
            <a:r>
              <a:rPr lang="en-US" dirty="0" smtClean="0"/>
              <a:t>Returns size of </a:t>
            </a:r>
            <a:r>
              <a:rPr lang="en-US" dirty="0" err="1" smtClean="0"/>
              <a:t>dataframe</a:t>
            </a:r>
            <a:r>
              <a:rPr lang="en-US" dirty="0" smtClean="0"/>
              <a:t>/series which is equivalent to total number of elements. That is rows x columns</a:t>
            </a:r>
          </a:p>
          <a:p>
            <a:r>
              <a:rPr lang="en-US" dirty="0" err="1" smtClean="0"/>
              <a:t>dataframe</a:t>
            </a:r>
            <a:r>
              <a:rPr lang="en-US" b="1" dirty="0" err="1" smtClean="0"/>
              <a:t>.shape</a:t>
            </a:r>
            <a:r>
              <a:rPr lang="en-US" dirty="0" smtClean="0"/>
              <a:t> </a:t>
            </a:r>
          </a:p>
          <a:p>
            <a:pPr lvl="1"/>
            <a:r>
              <a:rPr lang="en-US" dirty="0" smtClean="0"/>
              <a:t>Returns </a:t>
            </a:r>
            <a:r>
              <a:rPr lang="en-US" dirty="0" err="1" smtClean="0"/>
              <a:t>tuple</a:t>
            </a:r>
            <a:r>
              <a:rPr lang="en-US" dirty="0" smtClean="0"/>
              <a:t> of shape (Rows, columns) of </a:t>
            </a:r>
            <a:r>
              <a:rPr lang="en-US" dirty="0" err="1" smtClean="0"/>
              <a:t>dataframe</a:t>
            </a:r>
            <a:r>
              <a:rPr lang="en-US" dirty="0" smtClean="0"/>
              <a:t>/series</a:t>
            </a:r>
          </a:p>
          <a:p>
            <a:r>
              <a:rPr lang="en-US" dirty="0" err="1" smtClean="0"/>
              <a:t>dataframe</a:t>
            </a:r>
            <a:r>
              <a:rPr lang="en-US" b="1" dirty="0" err="1" smtClean="0"/>
              <a:t>.ndim</a:t>
            </a:r>
            <a:r>
              <a:rPr lang="en-US" dirty="0" smtClean="0"/>
              <a:t> </a:t>
            </a:r>
          </a:p>
          <a:p>
            <a:pPr lvl="1"/>
            <a:r>
              <a:rPr lang="en-US" dirty="0" smtClean="0"/>
              <a:t>Returns dimension of </a:t>
            </a:r>
            <a:r>
              <a:rPr lang="en-US" dirty="0" err="1" smtClean="0"/>
              <a:t>dataframe</a:t>
            </a:r>
            <a:r>
              <a:rPr lang="en-US" dirty="0" smtClean="0"/>
              <a:t>/series. 1 for one dimension (series), 2 for two dimension (</a:t>
            </a:r>
            <a:r>
              <a:rPr lang="en-US" dirty="0" err="1" smtClean="0"/>
              <a:t>dataframe</a:t>
            </a:r>
            <a:r>
              <a:rPr lang="en-US" dirty="0" smtClean="0"/>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smtClean="0"/>
              <a:t>DataFrame.describe()</a:t>
            </a:r>
            <a:endParaRPr lang="en-US" dirty="0"/>
          </a:p>
        </p:txBody>
      </p:sp>
      <p:sp>
        <p:nvSpPr>
          <p:cNvPr id="3" name="Content Placeholder 2"/>
          <p:cNvSpPr>
            <a:spLocks noGrp="1"/>
          </p:cNvSpPr>
          <p:nvPr>
            <p:ph idx="1"/>
          </p:nvPr>
        </p:nvSpPr>
        <p:spPr>
          <a:xfrm>
            <a:off x="76200" y="1524000"/>
            <a:ext cx="8915400" cy="5334000"/>
          </a:xfrm>
        </p:spPr>
        <p:txBody>
          <a:bodyPr>
            <a:normAutofit fontScale="85000" lnSpcReduction="20000"/>
          </a:bodyPr>
          <a:lstStyle/>
          <a:p>
            <a:pPr algn="just"/>
            <a:r>
              <a:rPr lang="en-US" dirty="0" smtClean="0"/>
              <a:t>The describe() method is used for calculating some statistical data like </a:t>
            </a:r>
            <a:r>
              <a:rPr lang="en-US" b="1" dirty="0" smtClean="0"/>
              <a:t>percentile, mean</a:t>
            </a:r>
            <a:r>
              <a:rPr lang="en-US" dirty="0" smtClean="0"/>
              <a:t> and </a:t>
            </a:r>
            <a:r>
              <a:rPr lang="en-US" b="1" dirty="0" smtClean="0"/>
              <a:t>std</a:t>
            </a:r>
            <a:r>
              <a:rPr lang="en-US" dirty="0" smtClean="0"/>
              <a:t> of the numerical values of the Series or </a:t>
            </a:r>
            <a:r>
              <a:rPr lang="en-US" dirty="0" err="1" smtClean="0"/>
              <a:t>DataFrame</a:t>
            </a:r>
            <a:r>
              <a:rPr lang="en-US" dirty="0" smtClean="0"/>
              <a:t>. </a:t>
            </a:r>
          </a:p>
          <a:p>
            <a:pPr algn="just"/>
            <a:r>
              <a:rPr lang="en-US" dirty="0" smtClean="0"/>
              <a:t>It analyzes both numeric and object series and also the </a:t>
            </a:r>
            <a:r>
              <a:rPr lang="en-US" dirty="0" err="1" smtClean="0"/>
              <a:t>DataFrame</a:t>
            </a:r>
            <a:r>
              <a:rPr lang="en-US" dirty="0" smtClean="0"/>
              <a:t> column sets of mixed data types</a:t>
            </a:r>
          </a:p>
          <a:p>
            <a:pPr algn="just"/>
            <a:r>
              <a:rPr lang="en-US" dirty="0" smtClean="0"/>
              <a:t>Syntax: </a:t>
            </a:r>
          </a:p>
          <a:p>
            <a:pPr lvl="1" algn="just"/>
            <a:r>
              <a:rPr lang="en-US" dirty="0" smtClean="0"/>
              <a:t>DataFrame.describe(percentiles=None, include=None, exclude=None) </a:t>
            </a:r>
          </a:p>
          <a:p>
            <a:pPr algn="just"/>
            <a:r>
              <a:rPr lang="en-US" b="1" dirty="0" smtClean="0"/>
              <a:t>Parameters:</a:t>
            </a:r>
          </a:p>
          <a:p>
            <a:pPr lvl="1" algn="just"/>
            <a:r>
              <a:rPr lang="en-US" u="sng" dirty="0" smtClean="0"/>
              <a:t>percentile:</a:t>
            </a:r>
            <a:r>
              <a:rPr lang="en-US" dirty="0" smtClean="0"/>
              <a:t> It is an optional parameter which is a list like data type of numbers that should fall between 0 and 1. Its default value is [.25, .5, .75], which returns the 25th, 50th, and 75th percentiles.</a:t>
            </a:r>
          </a:p>
          <a:p>
            <a:pPr lvl="1" algn="just"/>
            <a:r>
              <a:rPr lang="en-US" u="sng" dirty="0" smtClean="0"/>
              <a:t>include:</a:t>
            </a:r>
            <a:r>
              <a:rPr lang="en-US" dirty="0" smtClean="0"/>
              <a:t> It is also an optional parameter that includes the list of the data types while describing the </a:t>
            </a:r>
            <a:r>
              <a:rPr lang="en-US" dirty="0" err="1" smtClean="0"/>
              <a:t>DataFrame</a:t>
            </a:r>
            <a:r>
              <a:rPr lang="en-US" dirty="0" smtClean="0"/>
              <a:t>. Its default value is None.</a:t>
            </a:r>
          </a:p>
          <a:p>
            <a:pPr lvl="1" algn="just"/>
            <a:r>
              <a:rPr lang="en-US" u="sng" dirty="0" smtClean="0"/>
              <a:t>exclude: </a:t>
            </a:r>
            <a:r>
              <a:rPr lang="en-US" dirty="0" smtClean="0"/>
              <a:t>It is also an optional parameter that exclude the list of data types while describing </a:t>
            </a:r>
            <a:r>
              <a:rPr lang="en-US" dirty="0" err="1" smtClean="0"/>
              <a:t>DataFrame</a:t>
            </a:r>
            <a:r>
              <a:rPr lang="en-US" dirty="0" smtClean="0"/>
              <a:t>. Its default value is None.</a:t>
            </a:r>
          </a:p>
          <a:p>
            <a:pPr algn="just"/>
            <a:r>
              <a:rPr lang="en-US" b="1" dirty="0" smtClean="0"/>
              <a:t>Returns:</a:t>
            </a:r>
          </a:p>
          <a:p>
            <a:pPr lvl="1" algn="just"/>
            <a:r>
              <a:rPr lang="en-US" dirty="0" smtClean="0"/>
              <a:t>It returns the statistical summary of the Series and </a:t>
            </a:r>
            <a:r>
              <a:rPr lang="en-US" dirty="0" err="1" smtClean="0"/>
              <a:t>DataFrame</a:t>
            </a:r>
            <a:r>
              <a:rPr lang="en-US" dirty="0" smtClean="0"/>
              <a:t>.</a:t>
            </a:r>
          </a:p>
          <a:p>
            <a:pPr algn="just"/>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DataFrame.dtypes</a:t>
            </a:r>
            <a:endParaRPr lang="en-US" dirty="0"/>
          </a:p>
        </p:txBody>
      </p:sp>
      <p:sp>
        <p:nvSpPr>
          <p:cNvPr id="3" name="Content Placeholder 2"/>
          <p:cNvSpPr>
            <a:spLocks noGrp="1"/>
          </p:cNvSpPr>
          <p:nvPr>
            <p:ph idx="1"/>
          </p:nvPr>
        </p:nvSpPr>
        <p:spPr/>
        <p:txBody>
          <a:bodyPr/>
          <a:lstStyle/>
          <a:p>
            <a:pPr algn="just" fontAlgn="base"/>
            <a:r>
              <a:rPr lang="en-US" dirty="0" smtClean="0"/>
              <a:t>Pandas</a:t>
            </a:r>
            <a:r>
              <a:rPr lang="en-US" b="1" dirty="0" smtClean="0"/>
              <a:t> </a:t>
            </a:r>
            <a:r>
              <a:rPr lang="en-US" b="1" dirty="0" err="1" smtClean="0"/>
              <a:t>DataFrame.dtypes</a:t>
            </a:r>
            <a:r>
              <a:rPr lang="en-US" dirty="0" smtClean="0"/>
              <a:t> attribute return the </a:t>
            </a:r>
            <a:r>
              <a:rPr lang="en-US" dirty="0" err="1" smtClean="0"/>
              <a:t>dtypes</a:t>
            </a:r>
            <a:r>
              <a:rPr lang="en-US" dirty="0" smtClean="0"/>
              <a:t> in the </a:t>
            </a:r>
            <a:r>
              <a:rPr lang="en-US" dirty="0" err="1" smtClean="0"/>
              <a:t>DataFrame</a:t>
            </a:r>
            <a:r>
              <a:rPr lang="en-US" dirty="0" smtClean="0"/>
              <a:t>. </a:t>
            </a:r>
          </a:p>
          <a:p>
            <a:pPr algn="just" fontAlgn="base"/>
            <a:r>
              <a:rPr lang="en-US" dirty="0" smtClean="0"/>
              <a:t>It returns a Series with the data type of each column.</a:t>
            </a:r>
          </a:p>
          <a:p>
            <a:pPr algn="just" fontAlgn="base"/>
            <a:r>
              <a:rPr lang="en-US" b="1" dirty="0" smtClean="0"/>
              <a:t>Syntax:</a:t>
            </a:r>
            <a:r>
              <a:rPr lang="en-US" dirty="0" smtClean="0"/>
              <a:t> </a:t>
            </a:r>
            <a:r>
              <a:rPr lang="en-US" dirty="0" err="1" smtClean="0"/>
              <a:t>DataFrame.dtypes</a:t>
            </a:r>
            <a:endParaRPr lang="en-US" dirty="0" smtClean="0"/>
          </a:p>
          <a:p>
            <a:pPr algn="just" fontAlgn="base"/>
            <a:r>
              <a:rPr lang="en-US" b="1" dirty="0" smtClean="0"/>
              <a:t>Parameter :</a:t>
            </a:r>
            <a:r>
              <a:rPr lang="en-US" dirty="0" smtClean="0"/>
              <a:t> None</a:t>
            </a:r>
          </a:p>
          <a:p>
            <a:pPr algn="just" fontAlgn="base"/>
            <a:r>
              <a:rPr lang="en-US" b="1" dirty="0" smtClean="0"/>
              <a:t>Returns :</a:t>
            </a:r>
            <a:r>
              <a:rPr lang="en-US" dirty="0" smtClean="0"/>
              <a:t> </a:t>
            </a:r>
            <a:r>
              <a:rPr lang="en-US" dirty="0" err="1" smtClean="0"/>
              <a:t>dtype</a:t>
            </a:r>
            <a:r>
              <a:rPr lang="en-US" dirty="0" smtClean="0"/>
              <a:t> of each column</a:t>
            </a:r>
          </a:p>
          <a:p>
            <a:pPr algn="just"/>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966</TotalTime>
  <Words>623</Words>
  <Application>Microsoft Office PowerPoint</Application>
  <PresentationFormat>On-screen Show (4:3)</PresentationFormat>
  <Paragraphs>141</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Data Wrangling</vt:lpstr>
      <vt:lpstr>Data Wrangling</vt:lpstr>
      <vt:lpstr>Python Libraries for Data Wrangling</vt:lpstr>
      <vt:lpstr>    Key Steps of Data Wrangling </vt:lpstr>
      <vt:lpstr>    Key Steps of Data Wrangling </vt:lpstr>
      <vt:lpstr>Data Wrangling: Discover Data</vt:lpstr>
      <vt:lpstr>Selecting Rows and Columns, Filtering DataFrames</vt:lpstr>
      <vt:lpstr>Selecting Rows and Columns, Filtering DataFrames</vt:lpstr>
      <vt:lpstr>Exploring and Cleaning the Dataset</vt:lpstr>
      <vt:lpstr>Exploring and Cleaning the Dataset</vt:lpstr>
      <vt:lpstr>Data Wrangling: Transform Data</vt:lpstr>
      <vt:lpstr>Data Wrangling: Explore Data</vt:lpstr>
      <vt:lpstr>Data Wrangling: Explore Data</vt:lpstr>
      <vt:lpstr>Transformations, GroupBy, and Aggregations </vt:lpstr>
      <vt:lpstr>Joins and Pivot Tables</vt:lpstr>
      <vt:lpstr>Working with Missing Data</vt:lpstr>
      <vt:lpstr>Dimensions of Data Frame</vt:lpstr>
      <vt:lpstr>DataFrame.describe()</vt:lpstr>
      <vt:lpstr>DataFrame.dtypes</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Wrangling</dc:title>
  <dc:creator>Rushali</dc:creator>
  <cp:lastModifiedBy>RP1</cp:lastModifiedBy>
  <cp:revision>45</cp:revision>
  <dcterms:created xsi:type="dcterms:W3CDTF">2022-01-18T17:34:36Z</dcterms:created>
  <dcterms:modified xsi:type="dcterms:W3CDTF">2026-01-06T11:14:55Z</dcterms:modified>
</cp:coreProperties>
</file>